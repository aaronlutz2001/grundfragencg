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81" r:id="rId3"/>
    <p:sldId id="261" r:id="rId4"/>
    <p:sldId id="263" r:id="rId5"/>
    <p:sldId id="264" r:id="rId6"/>
    <p:sldId id="265" r:id="rId7"/>
    <p:sldId id="271" r:id="rId8"/>
    <p:sldId id="272" r:id="rId9"/>
    <p:sldId id="273" r:id="rId10"/>
    <p:sldId id="274" r:id="rId11"/>
    <p:sldId id="275" r:id="rId12"/>
    <p:sldId id="276" r:id="rId13"/>
    <p:sldId id="268" r:id="rId14"/>
    <p:sldId id="270" r:id="rId15"/>
    <p:sldId id="278" r:id="rId16"/>
    <p:sldId id="277" r:id="rId17"/>
    <p:sldId id="279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5335E03-D592-4B77-B597-573A581F23F7}">
          <p14:sldIdLst>
            <p14:sldId id="258"/>
            <p14:sldId id="281"/>
            <p14:sldId id="261"/>
            <p14:sldId id="263"/>
            <p14:sldId id="264"/>
            <p14:sldId id="265"/>
            <p14:sldId id="271"/>
            <p14:sldId id="272"/>
            <p14:sldId id="273"/>
            <p14:sldId id="274"/>
            <p14:sldId id="275"/>
            <p14:sldId id="276"/>
            <p14:sldId id="268"/>
            <p14:sldId id="270"/>
            <p14:sldId id="278"/>
            <p14:sldId id="277"/>
            <p14:sldId id="279"/>
          </p14:sldIdLst>
        </p14:section>
        <p14:section name="Sonstige Folien" id="{BCD4596E-6646-42CB-8D60-FA8984C0F7F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A8C26-ED58-4205-9A03-F7968E59AD61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7D55-2CEB-453F-B9D1-EA71D35E47AE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4312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5E354-C29C-F426-25D9-3176436E9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A0F992F-3EA8-10AA-8D29-18737DF38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265BA3-1234-85A2-E395-51C77FA16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D6339E-E068-368D-A6E8-41A7946B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3883D6-9F20-C13E-34BA-D9D7E061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174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3918E-FCFC-21FC-900A-30AA295D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5414DA-63A7-0DCE-5D96-3984406E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A1C143-2CE9-C157-2278-E9DC82A6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4C17F-CD74-EBA6-EF40-7DEBB5D5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559C30-E848-B44A-B327-B18A6DD9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965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08A5E-7DF1-B491-2652-73FAFA8F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A5255-B87B-604E-F601-3CACF6BD3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A3336E-424B-412E-0948-DDA35823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EE2936-C9FB-1220-5BC4-B5B5C0FF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82C26-4E1D-E715-9E83-541B63FE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303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AE732-8100-417A-BCA2-7374CAE7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0545FA-631B-DF20-6C29-17BAE1502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25DE1F-D2FE-8B89-A891-C459DA684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7E5C10-A308-9B11-9953-596C2697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81A825-C991-FC5D-5C75-189FB506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97E11B-C729-E931-B9C3-A8799600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413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9CB35-A071-5BCB-BD96-3040F051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12591E-73F8-31FB-C835-AC60D1D4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976088-05E8-1ED9-0164-640427EE1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2BD2283-8357-647A-FD28-423D4518E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BF37779-C98E-CD6B-46B8-8F7AFB8A7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C5C9B7-F489-1B52-E8A7-EFA2E116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4914F51-4B94-A8BD-9122-B461E4F0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9BEC4B-3F0D-4C68-B6FA-F3A01ED8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107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15DBE-E1C5-D28E-DA52-5958601F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1AA9DD-462A-7AE9-F6D5-0899B11E6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86E4DB-A00B-4832-6690-D9CFB0C4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118909-3D41-1DD0-6E0A-202F3CB8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943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ED3941B-2FCB-9553-0BC0-747C9EDD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423364-4721-0971-B270-6CD81879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CE77FA-97EF-A431-A201-60D162CA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543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4CF2B-ABC6-74FE-A450-DC1B2A78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575FA9-5E57-3DFE-6E03-98AF9F190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3A2295-6873-5973-762B-40D728C34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FCEED3-97E0-F5F8-3B0C-3AC46593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18A44D-9A30-B373-4F16-D2D1F35B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3A313F-745D-C00D-893F-BD06680E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996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D4F82-D704-5533-9503-7A3BA4FE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73D73E-C6B2-2AED-6BC0-EC57D1FC8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98933E-C03F-C2DB-0A62-DCA1BA3C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FC6D88-F158-028B-0344-F37279D8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21CE00-490E-6BCA-9D87-464EBA69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82C740-6B18-4A97-850D-AF96022F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662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F9E5C-72B6-3E33-F7FB-560530A6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52BA6A-36AD-E032-39EA-1ABC34584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811B5F-2677-D194-8537-8365B821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F8013-AD63-1571-7968-3E19B11A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0CF321-4A41-F9F5-FCD3-46BB4C75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808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C452FE9-028C-48C7-5201-225EE0539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E67C3C-9C58-33EE-703B-41FE31582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BE44C0-8222-2C5A-7FF5-BBC7BD0D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CA164F-8556-947A-6415-73EB7584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3C23F4-945D-4E76-9B9D-1629738F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945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6307DEA-E67B-FE6C-49CD-D968BF58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796B14-1146-EBB4-0D37-B102D885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5D0DFA-657F-2D2C-7DA9-498744614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87DDC-B1B0-4417-94D0-59F312A68A6F}" type="datetimeFigureOut">
              <a:rPr lang="en-DE" smtClean="0"/>
              <a:t>06/11/2025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74E810-3FD9-8B79-11D3-ECB274BD5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E7AEA5-9733-7290-4076-990A8F470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4E08A-8028-4E34-A25B-5B196519BAD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91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14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A4BC1-10A8-B020-543B-734A4D79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FC273-8AE1-ABB3-6070-1CD5258DC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10486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de-DE" sz="5400" noProof="0" dirty="0">
                <a:solidFill>
                  <a:schemeClr val="bg1"/>
                </a:solidFill>
              </a:rPr>
              <a:t>Grundfragen der Corporate </a:t>
            </a:r>
            <a:r>
              <a:rPr lang="de-DE" sz="5400" noProof="0" dirty="0" err="1">
                <a:solidFill>
                  <a:schemeClr val="bg1"/>
                </a:solidFill>
              </a:rPr>
              <a:t>Governance</a:t>
            </a:r>
            <a:endParaRPr lang="de-DE" sz="5400" noProof="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EA0555-E6AF-1FD9-D5B8-38E8EC6DD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5303" y="4257409"/>
            <a:ext cx="9144000" cy="2010486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endParaRPr lang="de-DE" noProof="0" dirty="0">
              <a:solidFill>
                <a:schemeClr val="bg1"/>
              </a:solidFill>
            </a:endParaRPr>
          </a:p>
          <a:p>
            <a:pPr algn="l"/>
            <a:r>
              <a:rPr lang="de-DE" noProof="0" dirty="0">
                <a:solidFill>
                  <a:schemeClr val="bg1"/>
                </a:solidFill>
              </a:rPr>
              <a:t>Universität Ulm</a:t>
            </a:r>
          </a:p>
          <a:p>
            <a:pPr algn="l"/>
            <a:r>
              <a:rPr lang="de-DE" noProof="0" dirty="0">
                <a:solidFill>
                  <a:schemeClr val="bg1"/>
                </a:solidFill>
              </a:rPr>
              <a:t>Wintersemester 2025/26 </a:t>
            </a:r>
          </a:p>
          <a:p>
            <a:pPr algn="l"/>
            <a:r>
              <a:rPr lang="de-DE" noProof="0" dirty="0">
                <a:solidFill>
                  <a:schemeClr val="bg1"/>
                </a:solidFill>
              </a:rPr>
              <a:t>Gruppe 1: Aaron Lutz, Carl Rottler,</a:t>
            </a:r>
          </a:p>
          <a:p>
            <a:pPr algn="l"/>
            <a:r>
              <a:rPr lang="de-DE" noProof="0" dirty="0">
                <a:solidFill>
                  <a:schemeClr val="bg1"/>
                </a:solidFill>
              </a:rPr>
              <a:t> Stefan Stevanovic, </a:t>
            </a:r>
          </a:p>
          <a:p>
            <a:pPr algn="l"/>
            <a:r>
              <a:rPr lang="de-DE" noProof="0" dirty="0">
                <a:solidFill>
                  <a:schemeClr val="bg1"/>
                </a:solidFill>
              </a:rPr>
              <a:t>Jonas Weber, Vincent von den Driesch</a:t>
            </a:r>
          </a:p>
          <a:p>
            <a:pPr algn="l"/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0D438E8-5211-BA6A-AB16-AC32F27D7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438" y="140569"/>
            <a:ext cx="2349910" cy="6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53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766D27-4BFC-7613-B7B2-F9DF19A5B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114" y="2039254"/>
            <a:ext cx="7387772" cy="2206171"/>
          </a:xfrm>
        </p:spPr>
        <p:txBody>
          <a:bodyPr anchor="ctr">
            <a:normAutofit/>
          </a:bodyPr>
          <a:lstStyle/>
          <a:p>
            <a:r>
              <a:rPr lang="de-DE" sz="4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Frauenanteil in Führungspositionen</a:t>
            </a:r>
            <a:endParaRPr lang="en-DE" sz="4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9E07D4-FC05-05AE-92E9-645DD0D64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628" y="5158522"/>
            <a:ext cx="5689601" cy="1087477"/>
          </a:xfrm>
        </p:spPr>
        <p:txBody>
          <a:bodyPr anchor="ctr">
            <a:normAutofit/>
          </a:bodyPr>
          <a:lstStyle/>
          <a:p>
            <a:pPr algn="l"/>
            <a:endParaRPr lang="en-DE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1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47719D-4830-48D1-3693-845ABB56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5B69BF-59C8-7F2F-1571-8254894E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noProof="0" dirty="0" err="1"/>
              <a:t>Führungspositionengesetz</a:t>
            </a:r>
            <a:endParaRPr lang="de-DE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228900-A587-5934-1FC9-0A4C8F1B5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10629142" cy="3917773"/>
          </a:xfrm>
        </p:spPr>
        <p:txBody>
          <a:bodyPr>
            <a:normAutofit/>
          </a:bodyPr>
          <a:lstStyle/>
          <a:p>
            <a:r>
              <a:rPr lang="de-DE" sz="2000" noProof="0" dirty="0"/>
              <a:t>Beschluss des </a:t>
            </a:r>
            <a:r>
              <a:rPr lang="de-DE" sz="2000" noProof="0" dirty="0" err="1"/>
              <a:t>Führungspositionengesetz</a:t>
            </a:r>
            <a:r>
              <a:rPr lang="de-DE" sz="2000" noProof="0" dirty="0"/>
              <a:t> 2015</a:t>
            </a:r>
          </a:p>
          <a:p>
            <a:pPr lvl="1"/>
            <a:r>
              <a:rPr lang="de-DE" sz="2000" noProof="0" dirty="0"/>
              <a:t>Frauenquote im Aufsichtsrat von 30%</a:t>
            </a:r>
          </a:p>
          <a:p>
            <a:pPr lvl="1"/>
            <a:r>
              <a:rPr lang="de-DE" sz="2000" noProof="0" dirty="0"/>
              <a:t>Unternehmen mit mehr als 2000 Beschäftigten und mit mehr als 3 Vorstandsmitgliedern </a:t>
            </a:r>
          </a:p>
          <a:p>
            <a:pPr lvl="1"/>
            <a:r>
              <a:rPr lang="de-DE" sz="2000" noProof="0" dirty="0"/>
              <a:t>-&gt; Mind. eine Frau im Vorstand</a:t>
            </a:r>
          </a:p>
          <a:p>
            <a:pPr lvl="1"/>
            <a:r>
              <a:rPr lang="de-DE" sz="2000" noProof="0" dirty="0"/>
              <a:t>Berichtspflicht über Fortschritte</a:t>
            </a:r>
          </a:p>
          <a:p>
            <a:pPr lvl="1"/>
            <a:r>
              <a:rPr lang="de-DE" sz="2000" noProof="0" dirty="0"/>
              <a:t>-&gt; Lagebericht und Erklärung zur Unternehmensführung</a:t>
            </a:r>
          </a:p>
          <a:p>
            <a:pPr lvl="1"/>
            <a:endParaRPr lang="de-DE" sz="2000" noProof="0" dirty="0"/>
          </a:p>
          <a:p>
            <a:pPr marL="457200" lvl="1" indent="0">
              <a:buNone/>
            </a:pPr>
            <a:endParaRPr lang="de-DE" sz="2000" noProof="0" dirty="0"/>
          </a:p>
          <a:p>
            <a:endParaRPr lang="de-DE" sz="20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1792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89116-5296-F371-9D32-EB5BC364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60A88D-43D6-9FFB-B588-F95E9C34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8E62B2-439D-21BC-DD00-37DF7509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6C08FB-DE7E-85CE-6345-BDBD720F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noProof="0" dirty="0"/>
              <a:t>Einführung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46591F-07CE-3736-5378-A28FE6CD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76738"/>
            <a:ext cx="10468811" cy="3917773"/>
          </a:xfrm>
        </p:spPr>
        <p:txBody>
          <a:bodyPr>
            <a:normAutofit/>
          </a:bodyPr>
          <a:lstStyle/>
          <a:p>
            <a:pPr lvl="1"/>
            <a:endParaRPr lang="de-DE" sz="2000" noProof="0" dirty="0"/>
          </a:p>
          <a:p>
            <a:pPr lvl="1"/>
            <a:r>
              <a:rPr lang="de-DE" sz="2000" noProof="0" dirty="0"/>
              <a:t>Öffentlicher Dienst hat eine Vorbildfunktion</a:t>
            </a:r>
          </a:p>
          <a:p>
            <a:pPr lvl="1"/>
            <a:r>
              <a:rPr lang="de-DE" sz="2000" noProof="0" dirty="0"/>
              <a:t>Bundesbehörden und öffentliche Unternehmen sollen paritätische Besetzung von Führungspositionen anstreben</a:t>
            </a:r>
          </a:p>
          <a:p>
            <a:pPr lvl="1"/>
            <a:r>
              <a:rPr lang="de-DE" sz="2000" noProof="0" dirty="0"/>
              <a:t>Sanktionen: </a:t>
            </a:r>
          </a:p>
          <a:p>
            <a:pPr lvl="2"/>
            <a:r>
              <a:rPr lang="de-DE" sz="1600" noProof="0" dirty="0"/>
              <a:t>Bußgelder</a:t>
            </a:r>
          </a:p>
          <a:p>
            <a:pPr lvl="2"/>
            <a:r>
              <a:rPr lang="de-DE" sz="1600" noProof="0" dirty="0"/>
              <a:t>Unwirksamkeit  (keine Frau im Vorstand)</a:t>
            </a:r>
          </a:p>
          <a:p>
            <a:endParaRPr lang="de-DE" sz="2000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96F534-840A-BB37-DB27-96927B39C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3380509"/>
            <a:ext cx="4788505" cy="136472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F27949-563C-FA39-02B9-097E1A93C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43598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73102-191A-D13D-52DA-3C3377B2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2FDFF-CD19-341F-38F5-11142167A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ACABF4D-D161-BD28-7B2B-4BED6A276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B0B446-F4E8-45DC-B69B-EFCCC9DC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noProof="0" dirty="0"/>
              <a:t>Ziele 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56EBF9-D838-FB61-3D4A-C5956073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76738"/>
            <a:ext cx="10468811" cy="3917773"/>
          </a:xfrm>
        </p:spPr>
        <p:txBody>
          <a:bodyPr>
            <a:normAutofit/>
          </a:bodyPr>
          <a:lstStyle/>
          <a:p>
            <a:pPr lvl="1"/>
            <a:endParaRPr lang="de-DE" sz="2000" noProof="0" dirty="0"/>
          </a:p>
          <a:p>
            <a:r>
              <a:rPr lang="de-DE" sz="2000" noProof="0" dirty="0"/>
              <a:t>Frauenanteile in Führungsetagen nachhaltig erhöhen</a:t>
            </a:r>
          </a:p>
          <a:p>
            <a:r>
              <a:rPr lang="de-DE" sz="2000" noProof="0" dirty="0"/>
              <a:t>Strukturelle Benachteiligung abbauen</a:t>
            </a:r>
          </a:p>
          <a:p>
            <a:r>
              <a:rPr lang="de-DE" sz="2000" noProof="0" dirty="0" err="1"/>
              <a:t>Diversity</a:t>
            </a:r>
            <a:r>
              <a:rPr lang="de-DE" sz="2000" noProof="0" dirty="0"/>
              <a:t> als Wettbewerbsfaktor</a:t>
            </a:r>
          </a:p>
          <a:p>
            <a:endParaRPr lang="de-DE" sz="2000" noProof="0" dirty="0"/>
          </a:p>
          <a:p>
            <a:r>
              <a:rPr lang="de-DE" sz="2000" noProof="0" dirty="0"/>
              <a:t>=&gt; </a:t>
            </a:r>
            <a:r>
              <a:rPr lang="de-DE" sz="2000" b="1" noProof="0" dirty="0"/>
              <a:t>Gesetzliche Verpflichtung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F2F135-5BE1-02F0-CFDE-F91E5BEBC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3380509"/>
            <a:ext cx="4788505" cy="136472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53ECF4-508C-4FFD-D887-9B64754DB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8401CB3B-B429-6A9F-A27F-53F10422B288}"/>
              </a:ext>
            </a:extLst>
          </p:cNvPr>
          <p:cNvSpPr/>
          <p:nvPr/>
        </p:nvSpPr>
        <p:spPr>
          <a:xfrm>
            <a:off x="875072" y="4000015"/>
            <a:ext cx="845574" cy="70792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09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18E64-5975-E455-D49D-B4C19361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848025-C0CB-D962-63EE-3C96F7C15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34A534-2EDD-AE7D-A289-219FD2BBC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B906A8-9771-493C-8C3B-06AF8D60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noProof="0" dirty="0"/>
              <a:t>WOB-Index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CE9101-70BF-91BF-CB51-7B20C0880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76738"/>
            <a:ext cx="10468811" cy="3917773"/>
          </a:xfrm>
        </p:spPr>
        <p:txBody>
          <a:bodyPr>
            <a:normAutofit/>
          </a:bodyPr>
          <a:lstStyle/>
          <a:p>
            <a:pPr lvl="1"/>
            <a:endParaRPr lang="de-DE" sz="2000" noProof="0" dirty="0"/>
          </a:p>
          <a:p>
            <a:r>
              <a:rPr lang="de-DE" sz="2000" noProof="0" dirty="0"/>
              <a:t>179 deutsche Börsenunternehmen </a:t>
            </a:r>
          </a:p>
          <a:p>
            <a:r>
              <a:rPr lang="de-DE" sz="2000" noProof="0" dirty="0"/>
              <a:t>Vergleich zwischen Unternehmen mit und ohne Quote</a:t>
            </a:r>
          </a:p>
          <a:p>
            <a:r>
              <a:rPr lang="de-DE" sz="2000" noProof="0" dirty="0"/>
              <a:t>Der Women-on-Board-Index 185 erfasst den Frauenanteil in Aufsichtsräten und Vorständen von 185 Unternehmen aus DAX, MDAX, SDAX und 19 weiteren mitbestimmten Firmen.</a:t>
            </a:r>
          </a:p>
          <a:p>
            <a:r>
              <a:rPr lang="de-DE" sz="2000" noProof="0" dirty="0"/>
              <a:t>Seit der Indexreform 2019 werden TecDAX-Unternehmen in die anderen Indizes integriert, wodurch ältere Daten nur eingeschränkt vergleichbar sind.</a:t>
            </a:r>
          </a:p>
          <a:p>
            <a:r>
              <a:rPr lang="de-DE" sz="2000" noProof="0" dirty="0"/>
              <a:t>Stichtag der Untersuchung ist der 15. Januar 2025, Änderungen bis zum 1. Mai 2025 wurden berücksichtigt. </a:t>
            </a:r>
          </a:p>
          <a:p>
            <a:endParaRPr lang="de-DE" sz="20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9CC6265-71EE-B7D5-2613-8BC9E7F1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0371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C7464-5F27-2901-4575-16C8CA9A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F954FA-882C-D616-AC45-C81A918F7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45494EA-A388-7469-CABD-F04D9C156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7D6C29-76C7-2CE5-6210-6EB4BB54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de-DE" sz="4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Frauenanteil im Aufsichtsrat</a:t>
            </a:r>
            <a:endParaRPr lang="de-DE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D39E2A-237E-8C37-B3EE-39448ACD8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Zehn Jahre nach Einführung des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ist die Bilanz gemischt: Es gibt Fortschritte, aber noch keine Gleichstellung.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(2015) und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II (2022) haben den Frauenanteil in Führungspositionen deutlich erhöht.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Der Weg zur Parität bleibt lang – internationale Entwicklungen wecken zudem Sorge vor Rückschritten.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7143B-AE43-C14B-8D8E-61B420CC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2C96AF-01F7-EC21-6DBA-B4F774498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7" y="1662582"/>
            <a:ext cx="11790066" cy="43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8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BA70C-C5C1-1652-EE28-9E0A2F70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B3D71E-05F6-0A36-EC69-71ABE9A2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FB59A85-3F08-45C8-1C5D-235745428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BFEF77-17EC-DFA6-3D74-95555DA0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10052074" cy="1188720"/>
          </a:xfrm>
        </p:spPr>
        <p:txBody>
          <a:bodyPr>
            <a:normAutofit fontScale="90000"/>
          </a:bodyPr>
          <a:lstStyle/>
          <a:p>
            <a:r>
              <a:rPr lang="de-DE" sz="4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Frauenanteil im Aufsichtsrat und Vorstand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3D2690-9207-B383-ED03-464CF123B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Zehn Jahre nach Einführung des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ist die Bilanz gemischt: Es gibt Fortschritte, aber noch keine Gleichstellung.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(2015) und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II (2022) haben den Frauenanteil in Führungspositionen deutlich erhöht.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Der Weg zur Parität bleibt lang – internationale Entwicklungen wecken zudem Sorge vor Rückschritten.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485E5-9817-F493-8A94-36A1A642A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70A52C-A0CA-D65F-19FC-401DD06D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7" y="1662582"/>
            <a:ext cx="11790066" cy="43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0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91DD1-4951-50C3-210F-A40BE8BF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93C79E-E420-8FFB-EE99-AD0AA0C0B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D8E90D-A771-A978-9E80-4C306D664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1970AA-6D7F-364A-8B29-741086E6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10219222" cy="1188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Frauenanteil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Aufsichtsrat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</a:t>
            </a: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nur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Arbeitnehmerseite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de-DE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98B3886-E497-4700-32C4-8C063FB68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01" y="1926888"/>
            <a:ext cx="11334797" cy="4044008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83A3AD-E54A-D2FB-9DD2-45609D29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3729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7D92434-9B6A-52B0-F717-185254C3A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8710"/>
            <a:ext cx="10515600" cy="430516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4756433-1B7F-D1DA-B2C6-D5708A4DD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30838"/>
            <a:ext cx="10429240" cy="594137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ClrTx/>
              <a:buSzTx/>
              <a:tabLst/>
            </a:pPr>
            <a:r>
              <a:rPr lang="en-DE" altLang="en-DE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Frauenanteil</a:t>
            </a:r>
            <a:r>
              <a:rPr lang="en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DE" altLang="en-DE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im</a:t>
            </a:r>
            <a:r>
              <a:rPr lang="en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DE" altLang="en-DE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Aufsichtsrat</a:t>
            </a:r>
            <a:r>
              <a:rPr lang="de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en-DE" altLang="en-DE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nur</a:t>
            </a:r>
            <a:r>
              <a:rPr lang="en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DE" altLang="en-DE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Anteilseignerseite</a:t>
            </a:r>
            <a:r>
              <a:rPr lang="en-DE" altLang="en-DE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4329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A8F5-B310-577B-F58E-A9EF66A0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B807E8A-4561-5CB8-615F-40C2260F9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5919"/>
            <a:ext cx="10429240" cy="703975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ClrTx/>
              <a:buSzTx/>
              <a:tabLst/>
            </a:pP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Mindestbeteiligungsgebot</a:t>
            </a:r>
            <a:r>
              <a:rPr lang="en-GB" b="1" dirty="0"/>
              <a:t> </a:t>
            </a:r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für </a:t>
            </a:r>
            <a:r>
              <a:rPr lang="en-GB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Vorstände</a:t>
            </a:r>
            <a:endParaRPr lang="en-DE" altLang="en-DE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72B61EB1-9E60-61DF-5F7D-E24351554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256" y="1825625"/>
            <a:ext cx="10455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4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87595-FD40-B474-4C56-C7639013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Internationaler Vergleich</a:t>
            </a:r>
            <a:endParaRPr lang="en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153A3B1-2B25-0795-5A28-484BA9002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194" y="1690688"/>
            <a:ext cx="9583612" cy="412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59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36024C8-CAAC-0C65-3CAD-77AFF655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de-DE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Positive Einflussfaktoren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87C95-9715-AE0F-3FEB-C398C769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de-DE" noProof="0" dirty="0"/>
              <a:t>Bsp.: Großbritannien</a:t>
            </a:r>
          </a:p>
          <a:p>
            <a:pPr lvl="1"/>
            <a:r>
              <a:rPr lang="de-DE" noProof="0" dirty="0"/>
              <a:t>Ganztagsschulen</a:t>
            </a:r>
          </a:p>
          <a:p>
            <a:pPr lvl="1"/>
            <a:r>
              <a:rPr lang="de-DE" noProof="0" dirty="0"/>
              <a:t>Dual Career</a:t>
            </a:r>
          </a:p>
          <a:p>
            <a:pPr lvl="1"/>
            <a:r>
              <a:rPr lang="de-DE" noProof="0" dirty="0"/>
              <a:t>Stete Vorbilder</a:t>
            </a:r>
          </a:p>
          <a:p>
            <a:pPr lvl="1"/>
            <a:r>
              <a:rPr lang="de-DE" noProof="0" dirty="0"/>
              <a:t>Selbstverpflichtung der Unternehmen (40% Frauenanteil als Richtwert)</a:t>
            </a:r>
          </a:p>
          <a:p>
            <a:pPr lvl="1"/>
            <a:r>
              <a:rPr lang="de-DE" noProof="0" dirty="0"/>
              <a:t>Berichtspflicht zum Gender Pay Gap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54088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A62D8-F4E1-9312-97FE-C94BFBDB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38310F-84BB-288B-7D4F-E440F2188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D95FF3-1039-FCAC-2AD8-1A193A82E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E5D9E4D-1D97-813E-1F02-9C061D58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de-DE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04AB83-AF73-1DF1-B720-66E36D8C0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Zehn Jahre nach Einführung des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ist die Bilanz gemischt: Es gibt Fortschritte, aber noch keine Gleichstellung.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Das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(2015) und </a:t>
            </a:r>
            <a:r>
              <a:rPr lang="de-DE" sz="2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FüPoG</a:t>
            </a:r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II (2022) haben den Frauenanteil in Führungspositionen deutlich erhöht.</a:t>
            </a:r>
          </a:p>
          <a:p>
            <a:r>
              <a:rPr lang="de-DE" sz="2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Der Weg zur Parität bleibt lang – internationale Entwicklungen wecken zudem Sorge vor Rückschritten.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323B1D6-CCC1-5AC1-229C-7F8BC9FF6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48234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14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DCDD9-181A-E0AB-2873-3BEB927D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9F5CE-6081-58E0-D700-7C758830E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920" y="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de-DE" sz="5400" noProof="0" dirty="0">
                <a:solidFill>
                  <a:schemeClr val="bg1"/>
                </a:solidFill>
              </a:rPr>
              <a:t>Vielen Dank für eure Aufmerksamkeit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205DFF-9D0B-EA00-7BB2-37B92B195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5303" y="4257409"/>
            <a:ext cx="9144000" cy="2010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5D10DD-BAA4-9629-5C87-AF8E514D0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438" y="140569"/>
            <a:ext cx="2349910" cy="6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55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14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87429-8766-85CC-729D-5BBEBD91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6EB465F7-A607-C3A7-9C42-E99F98E19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5303" y="4257409"/>
            <a:ext cx="9144000" cy="2010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1E5CEAB-BB5B-21EE-4204-0EAEB48BC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438" y="140569"/>
            <a:ext cx="2349910" cy="667161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9AAD576-160A-59E4-FC3E-B35A07281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16480" y="-533717"/>
            <a:ext cx="9144000" cy="2387600"/>
          </a:xfrm>
        </p:spPr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Diskussion</a:t>
            </a:r>
            <a:endParaRPr lang="en-DE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EA4594-2319-429A-F1AE-9B3A939C2D32}"/>
              </a:ext>
            </a:extLst>
          </p:cNvPr>
          <p:cNvSpPr txBox="1"/>
          <p:nvPr/>
        </p:nvSpPr>
        <p:spPr>
          <a:xfrm>
            <a:off x="132080" y="2044114"/>
            <a:ext cx="89204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b="1" dirty="0">
                <a:solidFill>
                  <a:schemeClr val="bg1"/>
                </a:solidFill>
              </a:rPr>
              <a:t>Welche Maßnahmen können zur Gleichstellung in Aufsichtsräten beitragen?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3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77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2014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456A3-41BE-0D66-29DC-98DC2892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F57286D-1925-9B28-8E52-FD1BDD261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5303" y="4257409"/>
            <a:ext cx="9144000" cy="2010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  <a:p>
            <a:pPr algn="l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5291EF-A3A7-84D4-B7C1-1691669BD8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438" y="140569"/>
            <a:ext cx="2349910" cy="667161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37C6AC12-C099-5828-6064-20F01CA23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16480" y="-533717"/>
            <a:ext cx="9144000" cy="2387600"/>
          </a:xfrm>
        </p:spPr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Diskussion</a:t>
            </a:r>
            <a:endParaRPr lang="en-DE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A2D78DF-E8FD-068E-54BC-B5F8C914D633}"/>
              </a:ext>
            </a:extLst>
          </p:cNvPr>
          <p:cNvSpPr txBox="1"/>
          <p:nvPr/>
        </p:nvSpPr>
        <p:spPr>
          <a:xfrm>
            <a:off x="101600" y="2033954"/>
            <a:ext cx="89204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200" b="1" dirty="0">
                <a:solidFill>
                  <a:schemeClr val="bg1"/>
                </a:solidFill>
              </a:rPr>
              <a:t>Wie bewertet ihr die Entwicklung in Deutschland?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4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429</Words>
  <Application>Microsoft Office PowerPoint</Application>
  <PresentationFormat>Breitbild</PresentationFormat>
  <Paragraphs>68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Grundfragen der Corporate Governance</vt:lpstr>
      <vt:lpstr>Frauenanteil in Führungspositionen</vt:lpstr>
      <vt:lpstr>Führungspositionengesetz</vt:lpstr>
      <vt:lpstr>Einführung</vt:lpstr>
      <vt:lpstr>Ziele  </vt:lpstr>
      <vt:lpstr>WOB-Index </vt:lpstr>
      <vt:lpstr>Frauenanteil im Aufsichtsrat</vt:lpstr>
      <vt:lpstr>Frauenanteil im Aufsichtsrat und Vorstand</vt:lpstr>
      <vt:lpstr>Frauenanteil im Aufsichtsrat (nur Arbeitnehmerseite)</vt:lpstr>
      <vt:lpstr>Frauenanteil im Aufsichtsrat (nur Anteilseignerseite) </vt:lpstr>
      <vt:lpstr>Mindestbeteiligungsgebot für Vorstände</vt:lpstr>
      <vt:lpstr>Internationaler Vergleich</vt:lpstr>
      <vt:lpstr>Positive Einflussfaktoren</vt:lpstr>
      <vt:lpstr>Zusammenfassung</vt:lpstr>
      <vt:lpstr>Vielen Dank für eure Aufmerksamkeit </vt:lpstr>
      <vt:lpstr>Diskussion</vt:lpstr>
      <vt:lpstr>Diskussion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Lutz</dc:creator>
  <cp:lastModifiedBy>Aaron Lutz</cp:lastModifiedBy>
  <cp:revision>7</cp:revision>
  <dcterms:created xsi:type="dcterms:W3CDTF">2025-11-03T13:42:26Z</dcterms:created>
  <dcterms:modified xsi:type="dcterms:W3CDTF">2025-11-06T16:14:21Z</dcterms:modified>
</cp:coreProperties>
</file>